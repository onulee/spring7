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99" r:id="rId2"/>
    <p:sldId id="444" r:id="rId3"/>
    <p:sldId id="445" r:id="rId4"/>
    <p:sldId id="446" r:id="rId5"/>
    <p:sldId id="519" r:id="rId6"/>
    <p:sldId id="520" r:id="rId7"/>
    <p:sldId id="521" r:id="rId8"/>
    <p:sldId id="522" r:id="rId9"/>
    <p:sldId id="523" r:id="rId10"/>
    <p:sldId id="524" r:id="rId11"/>
    <p:sldId id="525" r:id="rId12"/>
    <p:sldId id="526" r:id="rId13"/>
    <p:sldId id="527" r:id="rId14"/>
    <p:sldId id="261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A1A"/>
    <a:srgbClr val="86EAEF"/>
    <a:srgbClr val="EFD5B2"/>
    <a:srgbClr val="6BC0FF"/>
    <a:srgbClr val="4785B8"/>
    <a:srgbClr val="396E9A"/>
    <a:srgbClr val="174366"/>
    <a:srgbClr val="000000"/>
    <a:srgbClr val="4B5C75"/>
    <a:srgbClr val="0F518E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63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A07CD-7CF1-42E6-88F0-1E16322EAFE4}" type="datetimeFigureOut">
              <a:rPr lang="ko-KR" altLang="en-US" smtClean="0"/>
              <a:t>2025-04-10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71B74-8A38-4139-8F3A-2A7FCD344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54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B428E5-4487-4DFD-8F28-9D964CD37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84DD16E-187C-4E7E-ABBE-F6BAC9F37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8A4909-5F9B-4C27-B710-67153ABAF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2025-04-10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FC0D00-E907-440E-A201-CB22D51C4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4CD4DB-7CDF-4DC5-A588-36FF3B79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937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0765E-FEE5-4F3E-B758-957F9D1DD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8203BB-146D-4B44-AA2A-D336C0BFB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EA8557-8690-42D1-8E15-36046512D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2025-04-10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162651-A169-457B-99EA-EA1182CF1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44B403-3C1C-4CE4-AA5F-DF4C2A7CB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689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0486F1-7E70-4862-B180-2F6D6C675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908656-EF8F-48E0-9146-072072465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6B4667-8BEE-4EC9-BA83-01E5A6FD4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2025-04-10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9D9826-20A3-4308-8A7E-4443ADE4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094DF9-3D1A-4060-B052-7334DBE8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08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22D55-7DBF-4DF1-AA0F-67C643A6A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12F76A-C30B-4227-9FF3-E27F34C3E1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C20396-A042-42DD-9F0A-41B357119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3142A1-0A63-479E-9A20-AF9E0235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2025-04-10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A1015A-5E4C-48EF-B12F-BAC88CCB5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BA470E-15C8-4466-BB2E-CE85324BD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723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AA09FD-4F6B-48E5-BE06-783FEA30E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AB8419-E738-4085-9DEA-BCA42D09E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587FC7-027E-491E-BED2-077EECD8E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F5D329-9162-4215-8C89-91A50AF8A2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0CA0DCA-1843-474C-A22A-E55A19E91A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80573AA-E75C-4AEF-B12E-B708309CD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2025-04-10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403317B-845F-46B5-AEAD-5D1A351ED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00B0CCC-652B-4FAD-9905-871FB0B13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134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211D18-6A50-431A-910D-D067F0BD7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FD8662F-716A-4A1D-B2EA-998F00F97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2025-04-10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E16FA2-A4DB-4FA7-9701-60D7AF426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B5A49D-3517-4E67-A938-EB73ECC0C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021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77F62E5-67D8-42BE-9DF1-88D6EFCA1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2025-04-10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D1683B0-EB4C-4A8A-96E4-0FF5D6FD7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859FCB-EB4F-4D28-900A-B3B9CC0A0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385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77F62E5-67D8-42BE-9DF1-88D6EFCA1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2025-04-10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D1683B0-EB4C-4A8A-96E4-0FF5D6FD7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859FCB-EB4F-4D28-900A-B3B9CC0A0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466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BD9945-F253-480F-B350-42D887245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AA3872-D885-4E5E-93E0-787173DD7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EA71B0-39FE-4979-8EEE-D65F5EED9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FD771C-80C4-4A89-9DDE-75DEF39A4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2025-04-10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1BA1B2-C8F1-4247-A6DE-B7406BF01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5EDE68-03B7-446B-9B78-5F31A3A37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495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966B7B-1EDC-4343-9BA3-A7E1981C8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5A37DD-A068-47F0-B5E9-276C85D0A7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B77AA3-0D93-4AAE-923B-6CB8DC910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4F825F-B1F5-43F1-867C-C0771F648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2025-04-10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DF479B-B03B-4053-AC71-D2F3CCE3E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3258AE-092A-4CB5-839C-AEFEF5417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5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D5B9B-7087-4278-8D9F-742BE7B1F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3D46886-A0A8-4BC6-BC27-C23665A86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FFBE18-7E7B-464D-AD6B-7728D2936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2025-04-10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FB71CC-82EF-4AF7-B753-454DFD33D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61512D-1F1E-4E61-8590-1679657EA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316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3D78E37-5232-46D5-834E-28C0916B6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468B19-65B1-488C-AE29-F57BCDB92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0112E3-2C15-484C-AA1B-F968958EA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2025-04-10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8E4BE-748D-4FB8-BC6B-A661EC4E8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E3EE48-1179-4BE7-B1F5-AAA66B51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130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E0DACC-CEE6-4418-B167-457C89CF0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9CE159-3C04-447D-A17B-131FA8317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73AF69-C0A0-4CD9-9332-EB467E43C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ADB4A-3A8B-4072-ACF2-B9A64CC5A17A}" type="datetimeFigureOut">
              <a:rPr lang="ko-KR" altLang="en-US" smtClean="0"/>
              <a:t>2025-04-10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477B31-56FC-4575-A118-0FB21F2D8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7745DC-A89F-4B55-AEDC-D856DADB5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376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kr/database/technologies/xe-downloads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hd301.tistory.com/entry/20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2700"/>
            <a:ext cx="12192000" cy="685800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420101" y="448871"/>
            <a:ext cx="11351799" cy="5960258"/>
          </a:xfrm>
          <a:prstGeom prst="rect">
            <a:avLst/>
          </a:prstGeom>
          <a:solidFill>
            <a:srgbClr val="0058A3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277532" y="2001520"/>
            <a:ext cx="71118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4800" kern="1800" spc="300" dirty="0">
                <a:solidFill>
                  <a:schemeClr val="bg1"/>
                </a:solidFill>
                <a:latin typeface="+mj-ea"/>
                <a:ea typeface="+mj-ea"/>
              </a:rPr>
              <a:t>01</a:t>
            </a:r>
            <a:r>
              <a:rPr lang="ko-KR" altLang="en-US" sz="4800" kern="1800" spc="300" dirty="0">
                <a:solidFill>
                  <a:schemeClr val="bg1"/>
                </a:solidFill>
                <a:latin typeface="+mj-ea"/>
                <a:ea typeface="+mj-ea"/>
              </a:rPr>
              <a:t>강</a:t>
            </a:r>
            <a:r>
              <a:rPr lang="en-US" altLang="ko-KR" sz="4800" kern="1800" spc="300" dirty="0">
                <a:solidFill>
                  <a:schemeClr val="bg1"/>
                </a:solidFill>
                <a:latin typeface="+mj-ea"/>
                <a:ea typeface="+mj-ea"/>
              </a:rPr>
              <a:t>.oracle</a:t>
            </a:r>
            <a:endParaRPr lang="ko-KR" altLang="en-US" sz="4800" kern="180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75928" y="3210595"/>
            <a:ext cx="3444654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 algn="r"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 베이스의 개요</a:t>
            </a:r>
          </a:p>
          <a:p>
            <a:pPr marL="285750" indent="-285750" algn="r"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Oracle </a:t>
            </a:r>
            <a:r>
              <a:rPr lang="ko-KR" altLang="en-US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설치</a:t>
            </a:r>
          </a:p>
          <a:p>
            <a:pPr marL="285750" indent="-285750" algn="r"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기본적인 </a:t>
            </a:r>
            <a:r>
              <a:rPr lang="en-US" altLang="ko-KR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SQL</a:t>
            </a:r>
            <a:r>
              <a:rPr lang="ko-KR" altLang="en-US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문 익히기</a:t>
            </a:r>
            <a:endParaRPr lang="ko-KR" altLang="en-US" dirty="0">
              <a:solidFill>
                <a:srgbClr val="FFDB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305" y="2096249"/>
            <a:ext cx="697791" cy="697791"/>
          </a:xfrm>
          <a:prstGeom prst="rect">
            <a:avLst/>
          </a:prstGeom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9541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9"/>
    </mc:Choice>
    <mc:Fallback xmlns="">
      <p:transition spd="slow" advTm="33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데이터 베이스의 개요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E958303-798B-4B1B-8AC4-F52C2DEFB9D2}"/>
              </a:ext>
            </a:extLst>
          </p:cNvPr>
          <p:cNvSpPr/>
          <p:nvPr/>
        </p:nvSpPr>
        <p:spPr>
          <a:xfrm>
            <a:off x="416358" y="1021183"/>
            <a:ext cx="3561753" cy="5447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데이터베이스 구성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369362B-E6D6-40E9-B0F0-2371431E375F}"/>
              </a:ext>
            </a:extLst>
          </p:cNvPr>
          <p:cNvSpPr/>
          <p:nvPr/>
        </p:nvSpPr>
        <p:spPr>
          <a:xfrm>
            <a:off x="1303010" y="2091325"/>
            <a:ext cx="2330823" cy="8068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응용프로그램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5514C69-14C2-42A9-8409-A1A34AB231F8}"/>
              </a:ext>
            </a:extLst>
          </p:cNvPr>
          <p:cNvSpPr/>
          <p:nvPr/>
        </p:nvSpPr>
        <p:spPr>
          <a:xfrm>
            <a:off x="1303010" y="3122266"/>
            <a:ext cx="2330823" cy="8068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응용프로그램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4829AE2-A610-437C-810C-2717C076A4F5}"/>
              </a:ext>
            </a:extLst>
          </p:cNvPr>
          <p:cNvSpPr/>
          <p:nvPr/>
        </p:nvSpPr>
        <p:spPr>
          <a:xfrm>
            <a:off x="1303010" y="4153207"/>
            <a:ext cx="2330823" cy="8068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응용프로그램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F8136D6-AD94-4EEF-B74B-DC006E238CF8}"/>
              </a:ext>
            </a:extLst>
          </p:cNvPr>
          <p:cNvSpPr/>
          <p:nvPr/>
        </p:nvSpPr>
        <p:spPr>
          <a:xfrm>
            <a:off x="4682704" y="3122265"/>
            <a:ext cx="2330823" cy="8068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DBMS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30E8E5B-BD1D-4D42-96A3-C6876667F1CF}"/>
              </a:ext>
            </a:extLst>
          </p:cNvPr>
          <p:cNvSpPr/>
          <p:nvPr/>
        </p:nvSpPr>
        <p:spPr>
          <a:xfrm>
            <a:off x="8062398" y="3122264"/>
            <a:ext cx="2330823" cy="8068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DataBase</a:t>
            </a:r>
            <a:endParaRPr lang="ko-KR" altLang="en-US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29D06F4-CAB9-4F52-B05D-E2AA2AAD1326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3633833" y="2494737"/>
            <a:ext cx="1048871" cy="1030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574C658-091E-410F-8936-83D61BE35D3B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 flipV="1">
            <a:off x="3633833" y="3525677"/>
            <a:ext cx="1048871" cy="1030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D8154FA-6ED6-4243-A02D-8A4DBD400C57}"/>
              </a:ext>
            </a:extLst>
          </p:cNvPr>
          <p:cNvCxnSpPr>
            <a:stCxn id="9" idx="3"/>
            <a:endCxn id="11" idx="1"/>
          </p:cNvCxnSpPr>
          <p:nvPr/>
        </p:nvCxnSpPr>
        <p:spPr>
          <a:xfrm flipV="1">
            <a:off x="3633833" y="3525677"/>
            <a:ext cx="10488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CE365BAB-509A-4F12-A6AA-08A07F1CC6F4}"/>
              </a:ext>
            </a:extLst>
          </p:cNvPr>
          <p:cNvCxnSpPr/>
          <p:nvPr/>
        </p:nvCxnSpPr>
        <p:spPr>
          <a:xfrm flipV="1">
            <a:off x="7013527" y="3525675"/>
            <a:ext cx="10488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내용 개체 틀 6" descr="스크린샷, 시계이(가) 표시된 사진&#10;&#10;자동 생성된 설명">
            <a:extLst>
              <a:ext uri="{FF2B5EF4-FFF2-40B4-BE49-F238E27FC236}">
                <a16:creationId xmlns:a16="http://schemas.microsoft.com/office/drawing/2014/main" id="{E314ACB8-B4DD-4EC0-95D9-8B1E0BABBA5A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028" y="4332497"/>
            <a:ext cx="5742540" cy="223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921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오라클 설치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">
            <a:extLst>
              <a:ext uri="{FF2B5EF4-FFF2-40B4-BE49-F238E27FC236}">
                <a16:creationId xmlns:a16="http://schemas.microsoft.com/office/drawing/2014/main" id="{94A2FD6C-EA02-410E-A5E3-3A00C41E6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679" y="2241394"/>
            <a:ext cx="9364910" cy="4169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B32531C9-5392-47C2-AE46-591B10213F36}"/>
              </a:ext>
            </a:extLst>
          </p:cNvPr>
          <p:cNvSpPr/>
          <p:nvPr/>
        </p:nvSpPr>
        <p:spPr>
          <a:xfrm>
            <a:off x="416358" y="994231"/>
            <a:ext cx="10937442" cy="820579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0" i="0" dirty="0">
                <a:solidFill>
                  <a:srgbClr val="000000"/>
                </a:solidFill>
                <a:effectLst/>
                <a:latin typeface="Nanum Gothic"/>
              </a:rPr>
              <a:t> </a:t>
            </a:r>
            <a:r>
              <a:rPr lang="en-US" altLang="ko-KR" sz="2000" b="0" i="0" dirty="0">
                <a:solidFill>
                  <a:srgbClr val="D4BCA7"/>
                </a:solidFill>
                <a:effectLst/>
                <a:latin typeface="Nanum Gothic"/>
                <a:hlinkClick r:id="rId3"/>
              </a:rPr>
              <a:t>https://www.oracle.com/kr/database/technologies/xe-downloads.html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latin typeface="Nanum Gothic"/>
              </a:rPr>
              <a:t> </a:t>
            </a:r>
            <a:r>
              <a:rPr lang="ko-KR" altLang="en-US" sz="2000" b="0" i="0" dirty="0">
                <a:solidFill>
                  <a:srgbClr val="000000"/>
                </a:solidFill>
                <a:effectLst/>
                <a:latin typeface="Nanum Gothic"/>
              </a:rPr>
              <a:t>접속</a:t>
            </a:r>
            <a:endParaRPr lang="ko-KR" altLang="en-US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769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오라클 설치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>
            <a:extLst>
              <a:ext uri="{FF2B5EF4-FFF2-40B4-BE49-F238E27FC236}">
                <a16:creationId xmlns:a16="http://schemas.microsoft.com/office/drawing/2014/main" id="{9EA92B3C-B389-480D-A423-AA18049BC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37" y="1615362"/>
            <a:ext cx="7324709" cy="2027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B899493-5516-4E18-B131-28DB9F9B01B2}"/>
              </a:ext>
            </a:extLst>
          </p:cNvPr>
          <p:cNvSpPr txBox="1"/>
          <p:nvPr/>
        </p:nvSpPr>
        <p:spPr>
          <a:xfrm>
            <a:off x="639469" y="1156492"/>
            <a:ext cx="5144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 </a:t>
            </a:r>
            <a:r>
              <a:rPr lang="en-US" altLang="ko-KR" dirty="0" err="1"/>
              <a:t>os</a:t>
            </a:r>
            <a:r>
              <a:rPr lang="ko-KR" altLang="en-US" dirty="0"/>
              <a:t>에 맞는 설치 프로그램 다운로드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464D63A0-D200-4D7E-8C4C-C5C73030E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37" y="4388992"/>
            <a:ext cx="2972993" cy="2265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6FDE8FE-6870-4264-8A16-4B0131C80C02}"/>
              </a:ext>
            </a:extLst>
          </p:cNvPr>
          <p:cNvSpPr txBox="1"/>
          <p:nvPr/>
        </p:nvSpPr>
        <p:spPr>
          <a:xfrm>
            <a:off x="639469" y="3831334"/>
            <a:ext cx="5144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2. Setup </a:t>
            </a:r>
            <a:r>
              <a:rPr lang="ko-KR" altLang="en-US" dirty="0"/>
              <a:t>설치</a:t>
            </a:r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130B8DEB-BE38-46BF-906B-5D1EA8027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2965" y="4387688"/>
            <a:ext cx="2919357" cy="2265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8D6399DE-4F6A-4FB4-BE91-7AB0653B5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5057" y="4387688"/>
            <a:ext cx="2919357" cy="222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4292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오라클 설치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48B11039-9ED8-4C79-B959-E829E6DF0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56" y="3087969"/>
            <a:ext cx="5445274" cy="3259358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9F3FCFE-9D8F-44B0-A9F3-00DB4F8541CF}"/>
              </a:ext>
            </a:extLst>
          </p:cNvPr>
          <p:cNvSpPr/>
          <p:nvPr/>
        </p:nvSpPr>
        <p:spPr>
          <a:xfrm>
            <a:off x="1514304" y="3611458"/>
            <a:ext cx="1613647" cy="2868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E552C82-A986-4858-A40A-FF141B19D538}"/>
              </a:ext>
            </a:extLst>
          </p:cNvPr>
          <p:cNvSpPr/>
          <p:nvPr/>
        </p:nvSpPr>
        <p:spPr>
          <a:xfrm>
            <a:off x="736977" y="4904780"/>
            <a:ext cx="777328" cy="2868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61AA77-5D35-474C-9838-83FAFDB3EF8B}"/>
              </a:ext>
            </a:extLst>
          </p:cNvPr>
          <p:cNvSpPr txBox="1"/>
          <p:nvPr/>
        </p:nvSpPr>
        <p:spPr>
          <a:xfrm>
            <a:off x="6618515" y="3140608"/>
            <a:ext cx="4795330" cy="10772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ko-KR" sz="1600" b="0" i="0" dirty="0">
                <a:solidFill>
                  <a:srgbClr val="000000"/>
                </a:solidFill>
                <a:effectLst/>
                <a:latin typeface="Noto Sans KR"/>
              </a:rPr>
              <a:t>create user </a:t>
            </a:r>
            <a:r>
              <a:rPr lang="ko-KR" altLang="en-US" sz="1600" b="0" i="0" dirty="0" err="1">
                <a:solidFill>
                  <a:srgbClr val="000000"/>
                </a:solidFill>
                <a:effectLst/>
                <a:latin typeface="Noto Sans KR"/>
              </a:rPr>
              <a:t>계정이름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Noto Sans KR"/>
              </a:rPr>
              <a:t>  identified by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Noto Sans KR"/>
              </a:rPr>
              <a:t>비밀번호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Noto Sans KR"/>
              </a:rPr>
              <a:t>; </a:t>
            </a:r>
            <a:br>
              <a:rPr lang="ko-KR" altLang="en-US" sz="1600" dirty="0"/>
            </a:br>
            <a:r>
              <a:rPr lang="en-US" altLang="ko-KR" sz="1600" dirty="0"/>
              <a:t>// </a:t>
            </a:r>
            <a:r>
              <a:rPr lang="ko-KR" altLang="en-US" sz="1600" dirty="0"/>
              <a:t>사용자 생성</a:t>
            </a:r>
            <a:endParaRPr lang="en-US" altLang="ko-KR" sz="1600" dirty="0"/>
          </a:p>
          <a:p>
            <a:pPr algn="l"/>
            <a:r>
              <a:rPr lang="en-US" altLang="ko-KR" sz="1600" b="0" i="0" dirty="0">
                <a:solidFill>
                  <a:srgbClr val="000000"/>
                </a:solidFill>
                <a:effectLst/>
                <a:latin typeface="Noto Sans KR"/>
              </a:rPr>
              <a:t>grant connect, resource, dba to </a:t>
            </a:r>
            <a:r>
              <a:rPr lang="ko-KR" altLang="en-US" sz="1600" b="0" i="0" dirty="0" err="1">
                <a:solidFill>
                  <a:srgbClr val="333333"/>
                </a:solidFill>
                <a:effectLst/>
                <a:latin typeface="Noto Sans KR"/>
              </a:rPr>
              <a:t>계정이름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Noto Sans KR"/>
              </a:rPr>
              <a:t>; </a:t>
            </a:r>
            <a:br>
              <a:rPr lang="ko-KR" altLang="en-US" sz="1600" dirty="0"/>
            </a:br>
            <a:r>
              <a:rPr lang="en-US" altLang="ko-KR" sz="1600" dirty="0"/>
              <a:t>//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Ubuntu Condensed"/>
              </a:rPr>
              <a:t>권한 부여</a:t>
            </a:r>
            <a:endParaRPr lang="en-US" altLang="ko-KR" sz="1600" b="0" i="0" dirty="0">
              <a:solidFill>
                <a:srgbClr val="000000"/>
              </a:solidFill>
              <a:effectLst/>
              <a:latin typeface="Ubuntu Condense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B74D69-E89D-4E57-AC55-23F83117091A}"/>
              </a:ext>
            </a:extLst>
          </p:cNvPr>
          <p:cNvSpPr txBox="1"/>
          <p:nvPr/>
        </p:nvSpPr>
        <p:spPr>
          <a:xfrm>
            <a:off x="639469" y="1156492"/>
            <a:ext cx="5144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sz="1800" dirty="0">
                <a:latin typeface="+mn-ea"/>
              </a:rPr>
              <a:t>관리자 계정 로그인</a:t>
            </a:r>
            <a:endParaRPr lang="en-US" altLang="ko-KR" sz="1800" dirty="0">
              <a:latin typeface="+mn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11168B5-5D43-49F3-8071-74DF5F3F05D6}"/>
              </a:ext>
            </a:extLst>
          </p:cNvPr>
          <p:cNvSpPr/>
          <p:nvPr/>
        </p:nvSpPr>
        <p:spPr>
          <a:xfrm>
            <a:off x="416358" y="1595356"/>
            <a:ext cx="10937442" cy="1092136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0" i="0" dirty="0">
                <a:solidFill>
                  <a:srgbClr val="000000"/>
                </a:solidFill>
                <a:effectLst/>
                <a:latin typeface="Nanum Gothic"/>
              </a:rPr>
              <a:t>ora_user1 </a:t>
            </a:r>
            <a:r>
              <a:rPr lang="ko-KR" altLang="en-US" sz="2000" b="0" i="0" dirty="0">
                <a:solidFill>
                  <a:srgbClr val="000000"/>
                </a:solidFill>
                <a:effectLst/>
                <a:latin typeface="Nanum Gothic"/>
              </a:rPr>
              <a:t>계정 생성 및 권한 설정 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latin typeface="Nanum Gothic"/>
              </a:rPr>
              <a:t>(</a:t>
            </a:r>
            <a:r>
              <a:rPr lang="ko-KR" altLang="en-US" sz="2000" b="0" i="0" dirty="0">
                <a:solidFill>
                  <a:srgbClr val="000000"/>
                </a:solidFill>
                <a:effectLst/>
                <a:latin typeface="Nanum Gothic"/>
              </a:rPr>
              <a:t>비밀번호 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latin typeface="Nanum Gothic"/>
              </a:rPr>
              <a:t>: 1234)</a:t>
            </a:r>
            <a:br>
              <a:rPr lang="en-US" altLang="ko-KR" sz="2000" b="0" i="0" dirty="0">
                <a:solidFill>
                  <a:srgbClr val="000000"/>
                </a:solidFill>
                <a:effectLst/>
                <a:latin typeface="Nanum Gothic"/>
              </a:rPr>
            </a:br>
            <a:r>
              <a:rPr lang="en-US" altLang="ko-KR" sz="2000" b="0" i="0" dirty="0">
                <a:solidFill>
                  <a:srgbClr val="000000"/>
                </a:solidFill>
                <a:effectLst/>
                <a:latin typeface="Nanum Gothic"/>
              </a:rPr>
              <a:t>- oracle12</a:t>
            </a:r>
            <a:r>
              <a:rPr lang="ko-KR" altLang="en-US" sz="2000" b="0" i="0" dirty="0">
                <a:solidFill>
                  <a:srgbClr val="000000"/>
                </a:solidFill>
                <a:effectLst/>
                <a:latin typeface="Nanum Gothic"/>
              </a:rPr>
              <a:t>버전 이상부터 계정에 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latin typeface="Nanum Gothic"/>
              </a:rPr>
              <a:t>c##</a:t>
            </a:r>
            <a:r>
              <a:rPr lang="ko-KR" altLang="en-US" sz="2000" b="0" i="0" dirty="0">
                <a:solidFill>
                  <a:srgbClr val="000000"/>
                </a:solidFill>
                <a:effectLst/>
                <a:latin typeface="Nanum Gothic"/>
              </a:rPr>
              <a:t>붙여야 함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latin typeface="Nanum Gothic"/>
              </a:rPr>
              <a:t>.</a:t>
            </a:r>
          </a:p>
          <a:p>
            <a:pPr algn="ctr"/>
            <a:r>
              <a:rPr lang="en-US" altLang="ko-KR" sz="2000" dirty="0">
                <a:solidFill>
                  <a:srgbClr val="000000"/>
                </a:solidFill>
                <a:latin typeface="Nanum Gothic"/>
              </a:rPr>
              <a:t>- Sys</a:t>
            </a:r>
            <a:r>
              <a:rPr lang="ko-KR" altLang="en-US" sz="2000" dirty="0">
                <a:solidFill>
                  <a:srgbClr val="000000"/>
                </a:solidFill>
                <a:latin typeface="Nanum Gothic"/>
              </a:rPr>
              <a:t>계정으로 로그인 </a:t>
            </a:r>
            <a:r>
              <a:rPr lang="en-US" altLang="ko-KR" sz="2000" dirty="0">
                <a:solidFill>
                  <a:srgbClr val="000000"/>
                </a:solidFill>
                <a:latin typeface="Nanum Gothic"/>
              </a:rPr>
              <a:t>&gt; alter session set "_ORACLE_SCRIPT"=true;  # c##</a:t>
            </a:r>
            <a:r>
              <a:rPr lang="ko-KR" altLang="en-US" sz="2000" dirty="0">
                <a:solidFill>
                  <a:srgbClr val="000000"/>
                </a:solidFill>
                <a:latin typeface="Nanum Gothic"/>
              </a:rPr>
              <a:t>생략가능</a:t>
            </a:r>
            <a:endParaRPr lang="en-US" altLang="ko-KR" sz="2000" b="0" i="0" dirty="0">
              <a:solidFill>
                <a:srgbClr val="000000"/>
              </a:solidFill>
              <a:effectLst/>
              <a:latin typeface="Nanum Gothic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3D4656-F73E-4F13-8360-4A59F45990AB}"/>
              </a:ext>
            </a:extLst>
          </p:cNvPr>
          <p:cNvSpPr txBox="1"/>
          <p:nvPr/>
        </p:nvSpPr>
        <p:spPr>
          <a:xfrm>
            <a:off x="6618515" y="4487486"/>
            <a:ext cx="479533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600" dirty="0">
                <a:solidFill>
                  <a:srgbClr val="000000"/>
                </a:solidFill>
                <a:latin typeface="Ubuntu Condensed"/>
              </a:rPr>
              <a:t>예</a:t>
            </a:r>
            <a:r>
              <a:rPr lang="en-US" altLang="ko-KR" sz="1600" dirty="0">
                <a:solidFill>
                  <a:srgbClr val="000000"/>
                </a:solidFill>
                <a:latin typeface="Ubuntu Condensed"/>
              </a:rPr>
              <a:t>) </a:t>
            </a:r>
            <a:endParaRPr lang="en-US" altLang="ko-KR" sz="1600" b="0" i="0" dirty="0">
              <a:solidFill>
                <a:srgbClr val="000000"/>
              </a:solidFill>
              <a:effectLst/>
              <a:latin typeface="Ubuntu Condensed"/>
            </a:endParaRPr>
          </a:p>
          <a:p>
            <a:pPr algn="l"/>
            <a:r>
              <a:rPr lang="en-US" altLang="ko-KR" sz="1600" b="0" i="0" dirty="0">
                <a:solidFill>
                  <a:srgbClr val="000000"/>
                </a:solidFill>
                <a:effectLst/>
                <a:latin typeface="Ubuntu Condensed"/>
              </a:rPr>
              <a:t>SQL&gt; create user c##test identified by test;</a:t>
            </a:r>
          </a:p>
          <a:p>
            <a:pPr algn="l"/>
            <a:r>
              <a:rPr lang="ko-KR" altLang="en-US" sz="1600" b="0" i="0" dirty="0">
                <a:solidFill>
                  <a:srgbClr val="000000"/>
                </a:solidFill>
                <a:effectLst/>
                <a:latin typeface="Ubuntu Condensed"/>
              </a:rPr>
              <a:t>사용자가 생성되었습니다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Ubuntu Condensed"/>
              </a:rPr>
              <a:t>.</a:t>
            </a:r>
          </a:p>
          <a:p>
            <a:pPr algn="l"/>
            <a:r>
              <a:rPr lang="en-US" altLang="ko-KR" sz="1600" b="0" i="0" dirty="0">
                <a:solidFill>
                  <a:srgbClr val="000000"/>
                </a:solidFill>
                <a:effectLst/>
                <a:latin typeface="Ubuntu Condensed"/>
              </a:rPr>
              <a:t>SQL&gt; grant connect, resource, dba to c##test;</a:t>
            </a:r>
          </a:p>
          <a:p>
            <a:pPr algn="l"/>
            <a:endParaRPr lang="en-US" altLang="ko-KR" sz="1600" dirty="0">
              <a:solidFill>
                <a:srgbClr val="000000"/>
              </a:solidFill>
              <a:latin typeface="Ubuntu Condensed"/>
            </a:endParaRP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Ubuntu Condensed"/>
              </a:rPr>
              <a:t>- </a:t>
            </a:r>
            <a:r>
              <a:rPr lang="ko-KR" altLang="en-US" sz="1600" dirty="0">
                <a:solidFill>
                  <a:srgbClr val="000000"/>
                </a:solidFill>
                <a:latin typeface="Ubuntu Condensed"/>
              </a:rPr>
              <a:t>계정 삭제 </a:t>
            </a:r>
            <a:r>
              <a:rPr lang="en-US" altLang="ko-KR" sz="1600" dirty="0">
                <a:solidFill>
                  <a:srgbClr val="000000"/>
                </a:solidFill>
                <a:latin typeface="Ubuntu Condensed"/>
              </a:rPr>
              <a:t>: drop user test</a:t>
            </a:r>
            <a:br>
              <a:rPr lang="en-US" altLang="ko-KR" sz="1600" dirty="0">
                <a:solidFill>
                  <a:srgbClr val="000000"/>
                </a:solidFill>
                <a:latin typeface="Ubuntu Condensed"/>
              </a:rPr>
            </a:br>
            <a:r>
              <a:rPr lang="en-US" altLang="ko-KR" sz="1600" dirty="0">
                <a:solidFill>
                  <a:srgbClr val="000000"/>
                </a:solidFill>
                <a:latin typeface="Ubuntu Condensed"/>
              </a:rPr>
              <a:t>- </a:t>
            </a:r>
            <a:r>
              <a:rPr lang="ko-KR" altLang="en-US" sz="1600" dirty="0">
                <a:solidFill>
                  <a:srgbClr val="000000"/>
                </a:solidFill>
                <a:latin typeface="Ubuntu Condensed"/>
              </a:rPr>
              <a:t>권한 해제 </a:t>
            </a:r>
            <a:r>
              <a:rPr lang="en-US" altLang="ko-KR" sz="1600" dirty="0">
                <a:solidFill>
                  <a:srgbClr val="000000"/>
                </a:solidFill>
                <a:latin typeface="Ubuntu Condensed"/>
              </a:rPr>
              <a:t>: revoke connect, resource, dba from test</a:t>
            </a:r>
            <a:endParaRPr lang="en-US" altLang="ko-KR" sz="1600" b="0" i="0" dirty="0">
              <a:solidFill>
                <a:srgbClr val="000000"/>
              </a:solidFill>
              <a:effectLst/>
              <a:latin typeface="Ubuntu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913503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오라클 설치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BB74D69-E89D-4E57-AC55-23F83117091A}"/>
              </a:ext>
            </a:extLst>
          </p:cNvPr>
          <p:cNvSpPr txBox="1"/>
          <p:nvPr/>
        </p:nvSpPr>
        <p:spPr>
          <a:xfrm>
            <a:off x="639469" y="1156492"/>
            <a:ext cx="5144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 </a:t>
            </a:r>
            <a:r>
              <a:rPr lang="en-US" altLang="ko-KR" dirty="0" err="1"/>
              <a:t>ora_user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계정 로그인</a:t>
            </a:r>
            <a:endParaRPr lang="en-US" altLang="ko-KR" sz="1800" dirty="0">
              <a:latin typeface="+mn-ea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D4B7C1A-6312-4C8B-A0AB-AF3E48B33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120" y="1769702"/>
            <a:ext cx="4956163" cy="3217366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3218AF69-0E49-4012-A968-631BCDDAD262}"/>
              </a:ext>
            </a:extLst>
          </p:cNvPr>
          <p:cNvSpPr/>
          <p:nvPr/>
        </p:nvSpPr>
        <p:spPr>
          <a:xfrm>
            <a:off x="830120" y="3552392"/>
            <a:ext cx="1957904" cy="2868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F3A9B0A-EB17-471B-9E2F-F850E91F492B}"/>
              </a:ext>
            </a:extLst>
          </p:cNvPr>
          <p:cNvSpPr/>
          <p:nvPr/>
        </p:nvSpPr>
        <p:spPr>
          <a:xfrm>
            <a:off x="830120" y="3091514"/>
            <a:ext cx="777328" cy="2868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3711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기본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sql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문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BB74D69-E89D-4E57-AC55-23F83117091A}"/>
              </a:ext>
            </a:extLst>
          </p:cNvPr>
          <p:cNvSpPr txBox="1"/>
          <p:nvPr/>
        </p:nvSpPr>
        <p:spPr>
          <a:xfrm>
            <a:off x="639469" y="1742874"/>
            <a:ext cx="5144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 </a:t>
            </a:r>
            <a:r>
              <a:rPr lang="en-US" altLang="ko-KR" sz="1800" dirty="0">
                <a:latin typeface="+mn-ea"/>
              </a:rPr>
              <a:t>create table </a:t>
            </a:r>
            <a:r>
              <a:rPr lang="ko-KR" altLang="en-US" sz="1800" dirty="0">
                <a:latin typeface="+mn-ea"/>
              </a:rPr>
              <a:t>테이블명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 err="1">
                <a:latin typeface="+mn-ea"/>
              </a:rPr>
              <a:t>컬럼명</a:t>
            </a:r>
            <a:r>
              <a:rPr lang="ko-KR" altLang="en-US" sz="1800" dirty="0">
                <a:latin typeface="+mn-ea"/>
              </a:rPr>
              <a:t> 자료형</a:t>
            </a:r>
            <a:r>
              <a:rPr lang="en-US" altLang="ko-KR" sz="1800" dirty="0">
                <a:latin typeface="+mn-ea"/>
              </a:rPr>
              <a:t>);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B98B6AF-B4C5-44C7-ABCD-13D3CC288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349" y="2654911"/>
            <a:ext cx="3743325" cy="200025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E5EBA9F6-B864-4183-A42E-DD5AFAB33112}"/>
              </a:ext>
            </a:extLst>
          </p:cNvPr>
          <p:cNvSpPr/>
          <p:nvPr/>
        </p:nvSpPr>
        <p:spPr>
          <a:xfrm>
            <a:off x="3221627" y="2813309"/>
            <a:ext cx="1948249" cy="21931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01EA70C-F25A-4D75-B142-59938C5F1C15}"/>
              </a:ext>
            </a:extLst>
          </p:cNvPr>
          <p:cNvCxnSpPr/>
          <p:nvPr/>
        </p:nvCxnSpPr>
        <p:spPr>
          <a:xfrm flipH="1">
            <a:off x="1749670" y="3129336"/>
            <a:ext cx="14719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BA3D5A9-1F60-4AB2-B507-30D1C47A0944}"/>
              </a:ext>
            </a:extLst>
          </p:cNvPr>
          <p:cNvSpPr txBox="1"/>
          <p:nvPr/>
        </p:nvSpPr>
        <p:spPr>
          <a:xfrm>
            <a:off x="993530" y="2998531"/>
            <a:ext cx="7777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 err="1">
                <a:latin typeface="+mn-ea"/>
              </a:rPr>
              <a:t>컬럼명</a:t>
            </a:r>
            <a:endParaRPr lang="en-US" altLang="ko-KR" sz="1100" b="1" dirty="0"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F4DE826-6AA4-4675-8602-09913FB5735F}"/>
              </a:ext>
            </a:extLst>
          </p:cNvPr>
          <p:cNvCxnSpPr/>
          <p:nvPr/>
        </p:nvCxnSpPr>
        <p:spPr>
          <a:xfrm>
            <a:off x="4246685" y="3779967"/>
            <a:ext cx="0" cy="1134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1F795C4-BC60-4BFF-8250-F5211302DD89}"/>
              </a:ext>
            </a:extLst>
          </p:cNvPr>
          <p:cNvSpPr txBox="1"/>
          <p:nvPr/>
        </p:nvSpPr>
        <p:spPr>
          <a:xfrm>
            <a:off x="3857818" y="4898029"/>
            <a:ext cx="7777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 err="1">
                <a:latin typeface="+mn-ea"/>
              </a:rPr>
              <a:t>자료형</a:t>
            </a:r>
            <a:endParaRPr lang="en-US" altLang="ko-KR" sz="1100" b="1" dirty="0">
              <a:latin typeface="+mn-ea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EB2FBC89-9AE2-444F-BFFA-E8A2C8B25FD9}"/>
              </a:ext>
            </a:extLst>
          </p:cNvPr>
          <p:cNvCxnSpPr/>
          <p:nvPr/>
        </p:nvCxnSpPr>
        <p:spPr>
          <a:xfrm>
            <a:off x="4856284" y="3779967"/>
            <a:ext cx="0" cy="1134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78603AB-6F56-4352-8432-FC58FD5B10CB}"/>
              </a:ext>
            </a:extLst>
          </p:cNvPr>
          <p:cNvSpPr txBox="1"/>
          <p:nvPr/>
        </p:nvSpPr>
        <p:spPr>
          <a:xfrm>
            <a:off x="4467417" y="4887000"/>
            <a:ext cx="7777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latin typeface="+mn-ea"/>
              </a:rPr>
              <a:t>사이즈</a:t>
            </a:r>
            <a:endParaRPr lang="en-US" altLang="ko-KR" sz="1100" b="1" dirty="0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A2DF5A-8DE4-47EA-B24F-329C61476F12}"/>
              </a:ext>
            </a:extLst>
          </p:cNvPr>
          <p:cNvSpPr txBox="1"/>
          <p:nvPr/>
        </p:nvSpPr>
        <p:spPr>
          <a:xfrm>
            <a:off x="7601469" y="2654911"/>
            <a:ext cx="2684493" cy="1015663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b="1" u="sng" dirty="0" err="1">
                <a:latin typeface="+mn-ea"/>
              </a:rPr>
              <a:t>자료형</a:t>
            </a:r>
            <a:endParaRPr lang="en-US" altLang="ko-KR" b="1" u="sng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number : </a:t>
            </a:r>
            <a:r>
              <a:rPr lang="ko-KR" altLang="en-US" sz="1400" dirty="0">
                <a:latin typeface="+mn-ea"/>
              </a:rPr>
              <a:t>수치 </a:t>
            </a:r>
            <a:r>
              <a:rPr lang="ko-KR" altLang="en-US" sz="1400" dirty="0" err="1">
                <a:latin typeface="+mn-ea"/>
              </a:rPr>
              <a:t>데이터형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char : </a:t>
            </a:r>
            <a:r>
              <a:rPr lang="ko-KR" altLang="en-US" sz="1400" dirty="0">
                <a:latin typeface="+mn-ea"/>
              </a:rPr>
              <a:t>고정 문자열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varchar2 : </a:t>
            </a:r>
            <a:r>
              <a:rPr lang="ko-KR" altLang="en-US" sz="1400" dirty="0">
                <a:latin typeface="+mn-ea"/>
              </a:rPr>
              <a:t>가변길이 문자열</a:t>
            </a:r>
            <a:endParaRPr lang="en-US" altLang="ko-KR" sz="1400" dirty="0">
              <a:latin typeface="+mn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B80A5FB-6422-4F3B-B5CA-E7A3BAD32071}"/>
              </a:ext>
            </a:extLst>
          </p:cNvPr>
          <p:cNvSpPr/>
          <p:nvPr/>
        </p:nvSpPr>
        <p:spPr>
          <a:xfrm>
            <a:off x="416358" y="1097024"/>
            <a:ext cx="3561753" cy="5447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테이블 생성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F6657C-D3F4-4B3F-9FCB-77D3F61E1532}"/>
              </a:ext>
            </a:extLst>
          </p:cNvPr>
          <p:cNvSpPr txBox="1"/>
          <p:nvPr/>
        </p:nvSpPr>
        <p:spPr>
          <a:xfrm>
            <a:off x="2763349" y="5437810"/>
            <a:ext cx="6207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insert into customer (name, age, gender, </a:t>
            </a:r>
            <a:r>
              <a:rPr lang="en-US" altLang="ko-KR" dirty="0" err="1"/>
              <a:t>reg_dati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values('</a:t>
            </a:r>
            <a:r>
              <a:rPr lang="ko-KR" altLang="en-US" dirty="0"/>
              <a:t>홍길동</a:t>
            </a:r>
            <a:r>
              <a:rPr lang="en-US" altLang="ko-KR" dirty="0"/>
              <a:t>',20,'M',sysdate);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6702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기본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sql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문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BB74D69-E89D-4E57-AC55-23F83117091A}"/>
              </a:ext>
            </a:extLst>
          </p:cNvPr>
          <p:cNvSpPr txBox="1"/>
          <p:nvPr/>
        </p:nvSpPr>
        <p:spPr>
          <a:xfrm>
            <a:off x="639469" y="1742874"/>
            <a:ext cx="9209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 </a:t>
            </a:r>
            <a:r>
              <a:rPr lang="en-US" altLang="ko-KR" sz="1800" dirty="0">
                <a:latin typeface="+mn-ea"/>
              </a:rPr>
              <a:t>Insert into </a:t>
            </a:r>
            <a:r>
              <a:rPr lang="ko-KR" altLang="en-US" sz="1800" dirty="0">
                <a:latin typeface="+mn-ea"/>
              </a:rPr>
              <a:t>테이블이름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컬럼이름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컬럼이름</a:t>
            </a:r>
            <a:r>
              <a:rPr lang="en-US" altLang="ko-KR" sz="1800" dirty="0">
                <a:latin typeface="+mn-ea"/>
              </a:rPr>
              <a:t>, ….. )</a:t>
            </a:r>
            <a:r>
              <a:rPr lang="ko-KR" altLang="en-US" sz="1800" dirty="0">
                <a:latin typeface="+mn-ea"/>
              </a:rPr>
              <a:t> </a:t>
            </a:r>
            <a:r>
              <a:rPr lang="en-US" altLang="ko-KR" sz="1800" dirty="0">
                <a:latin typeface="+mn-ea"/>
              </a:rPr>
              <a:t>values (</a:t>
            </a:r>
            <a:r>
              <a:rPr lang="ko-KR" altLang="en-US" sz="1800" dirty="0">
                <a:latin typeface="+mn-ea"/>
              </a:rPr>
              <a:t>데이터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데이터</a:t>
            </a:r>
            <a:r>
              <a:rPr lang="en-US" altLang="ko-KR" sz="1800" dirty="0">
                <a:latin typeface="+mn-ea"/>
              </a:rPr>
              <a:t>, ….);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B80A5FB-6422-4F3B-B5CA-E7A3BAD32071}"/>
              </a:ext>
            </a:extLst>
          </p:cNvPr>
          <p:cNvSpPr/>
          <p:nvPr/>
        </p:nvSpPr>
        <p:spPr>
          <a:xfrm>
            <a:off x="416358" y="1097024"/>
            <a:ext cx="3561753" cy="5447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레코드 추가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EC9BD95B-43F3-46BF-9278-3EE9BDB80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722" y="2451123"/>
            <a:ext cx="7962900" cy="3943350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2B2A5091-4CC2-4942-AB80-86D03845D14D}"/>
              </a:ext>
            </a:extLst>
          </p:cNvPr>
          <p:cNvSpPr/>
          <p:nvPr/>
        </p:nvSpPr>
        <p:spPr>
          <a:xfrm>
            <a:off x="1916721" y="2472436"/>
            <a:ext cx="7728441" cy="45383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095D1FD-AA36-4074-A37B-316FAFC857F2}"/>
              </a:ext>
            </a:extLst>
          </p:cNvPr>
          <p:cNvSpPr/>
          <p:nvPr/>
        </p:nvSpPr>
        <p:spPr>
          <a:xfrm>
            <a:off x="1916722" y="5317593"/>
            <a:ext cx="1310056" cy="29893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602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기본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sql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문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BB74D69-E89D-4E57-AC55-23F83117091A}"/>
              </a:ext>
            </a:extLst>
          </p:cNvPr>
          <p:cNvSpPr txBox="1"/>
          <p:nvPr/>
        </p:nvSpPr>
        <p:spPr>
          <a:xfrm>
            <a:off x="639469" y="1742874"/>
            <a:ext cx="9209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 </a:t>
            </a:r>
            <a:r>
              <a:rPr lang="en-US" altLang="ko-KR" sz="1800" dirty="0">
                <a:latin typeface="+mn-ea"/>
              </a:rPr>
              <a:t>select </a:t>
            </a:r>
            <a:r>
              <a:rPr lang="ko-KR" altLang="en-US" sz="1800" dirty="0">
                <a:latin typeface="+mn-ea"/>
              </a:rPr>
              <a:t>컬럼이름 </a:t>
            </a:r>
            <a:r>
              <a:rPr lang="en-US" altLang="ko-KR" sz="1800" dirty="0">
                <a:latin typeface="+mn-ea"/>
              </a:rPr>
              <a:t>from </a:t>
            </a:r>
            <a:r>
              <a:rPr lang="ko-KR" altLang="en-US" sz="1800" dirty="0">
                <a:latin typeface="+mn-ea"/>
              </a:rPr>
              <a:t>테이블이름</a:t>
            </a:r>
            <a:endParaRPr lang="en-US" altLang="ko-KR" sz="1800" dirty="0">
              <a:latin typeface="+mn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B80A5FB-6422-4F3B-B5CA-E7A3BAD32071}"/>
              </a:ext>
            </a:extLst>
          </p:cNvPr>
          <p:cNvSpPr/>
          <p:nvPr/>
        </p:nvSpPr>
        <p:spPr>
          <a:xfrm>
            <a:off x="416358" y="1097024"/>
            <a:ext cx="3561753" cy="5447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레코드 검색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47D1D6E-9A1C-4140-AF6A-E18E62F14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854" y="2447681"/>
            <a:ext cx="4019550" cy="2714625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F0E2D7B5-C985-446A-82AF-0486079A63AE}"/>
              </a:ext>
            </a:extLst>
          </p:cNvPr>
          <p:cNvSpPr/>
          <p:nvPr/>
        </p:nvSpPr>
        <p:spPr>
          <a:xfrm>
            <a:off x="1931027" y="2408753"/>
            <a:ext cx="3040761" cy="28065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BA6720D-9BDB-48D7-8DB6-B93145B8CA27}"/>
              </a:ext>
            </a:extLst>
          </p:cNvPr>
          <p:cNvSpPr/>
          <p:nvPr/>
        </p:nvSpPr>
        <p:spPr>
          <a:xfrm>
            <a:off x="1931027" y="2823399"/>
            <a:ext cx="3949820" cy="233890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669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기본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sql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문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BB74D69-E89D-4E57-AC55-23F83117091A}"/>
              </a:ext>
            </a:extLst>
          </p:cNvPr>
          <p:cNvSpPr txBox="1"/>
          <p:nvPr/>
        </p:nvSpPr>
        <p:spPr>
          <a:xfrm>
            <a:off x="660400" y="1739230"/>
            <a:ext cx="9209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 </a:t>
            </a:r>
            <a:r>
              <a:rPr lang="en-US" altLang="ko-KR" sz="1800" dirty="0">
                <a:latin typeface="+mn-ea"/>
              </a:rPr>
              <a:t>delete from </a:t>
            </a:r>
            <a:r>
              <a:rPr lang="ko-KR" altLang="en-US" sz="1800" dirty="0">
                <a:latin typeface="+mn-ea"/>
              </a:rPr>
              <a:t>테이블이름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조건</a:t>
            </a:r>
            <a:r>
              <a:rPr lang="en-US" altLang="ko-KR" sz="1800" dirty="0">
                <a:latin typeface="+mn-ea"/>
              </a:rPr>
              <a:t>)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B80A5FB-6422-4F3B-B5CA-E7A3BAD32071}"/>
              </a:ext>
            </a:extLst>
          </p:cNvPr>
          <p:cNvSpPr/>
          <p:nvPr/>
        </p:nvSpPr>
        <p:spPr>
          <a:xfrm>
            <a:off x="416358" y="1097024"/>
            <a:ext cx="3561753" cy="5447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레코드 삭제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9FC7991-FB82-4FCD-A788-BF3D23FF2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027" y="2421176"/>
            <a:ext cx="4857750" cy="352425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5D3250A2-1C55-4265-AF26-AC8A76828841}"/>
              </a:ext>
            </a:extLst>
          </p:cNvPr>
          <p:cNvSpPr/>
          <p:nvPr/>
        </p:nvSpPr>
        <p:spPr>
          <a:xfrm>
            <a:off x="1931027" y="2408753"/>
            <a:ext cx="4320304" cy="28065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940AA49-7E23-4AB1-85AB-19BE2F875B08}"/>
              </a:ext>
            </a:extLst>
          </p:cNvPr>
          <p:cNvSpPr/>
          <p:nvPr/>
        </p:nvSpPr>
        <p:spPr>
          <a:xfrm>
            <a:off x="1931027" y="2823399"/>
            <a:ext cx="3949820" cy="2769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99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기본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sql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문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BB74D69-E89D-4E57-AC55-23F83117091A}"/>
              </a:ext>
            </a:extLst>
          </p:cNvPr>
          <p:cNvSpPr txBox="1"/>
          <p:nvPr/>
        </p:nvSpPr>
        <p:spPr>
          <a:xfrm>
            <a:off x="639469" y="1742874"/>
            <a:ext cx="9209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 </a:t>
            </a:r>
            <a:r>
              <a:rPr lang="en-US" altLang="ko-KR" sz="1800" dirty="0">
                <a:latin typeface="+mn-ea"/>
              </a:rPr>
              <a:t>update </a:t>
            </a:r>
            <a:r>
              <a:rPr lang="ko-KR" altLang="en-US" sz="1800" dirty="0">
                <a:latin typeface="+mn-ea"/>
              </a:rPr>
              <a:t>테이블이름 </a:t>
            </a:r>
            <a:r>
              <a:rPr lang="en-US" altLang="ko-KR" sz="1800" dirty="0">
                <a:latin typeface="+mn-ea"/>
              </a:rPr>
              <a:t>set </a:t>
            </a:r>
            <a:r>
              <a:rPr lang="ko-KR" altLang="en-US" sz="1800" dirty="0">
                <a:latin typeface="+mn-ea"/>
              </a:rPr>
              <a:t>컬럼이름</a:t>
            </a:r>
            <a:r>
              <a:rPr lang="en-US" altLang="ko-KR" sz="1800" dirty="0">
                <a:latin typeface="+mn-ea"/>
              </a:rPr>
              <a:t>=</a:t>
            </a:r>
            <a:r>
              <a:rPr lang="ko-KR" altLang="en-US" sz="1800" dirty="0">
                <a:latin typeface="+mn-ea"/>
              </a:rPr>
              <a:t>값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컬럼이름</a:t>
            </a:r>
            <a:r>
              <a:rPr lang="en-US" altLang="ko-KR" sz="1800" dirty="0">
                <a:latin typeface="+mn-ea"/>
              </a:rPr>
              <a:t>=</a:t>
            </a:r>
            <a:r>
              <a:rPr lang="ko-KR" altLang="en-US" sz="1800" dirty="0">
                <a:latin typeface="+mn-ea"/>
              </a:rPr>
              <a:t>값</a:t>
            </a:r>
            <a:r>
              <a:rPr lang="en-US" altLang="ko-KR" sz="1800" dirty="0">
                <a:latin typeface="+mn-ea"/>
              </a:rPr>
              <a:t>, …. </a:t>
            </a:r>
            <a:r>
              <a:rPr lang="ko-KR" altLang="en-US" sz="1800" dirty="0">
                <a:latin typeface="+mn-ea"/>
              </a:rPr>
              <a:t>조건</a:t>
            </a:r>
            <a:endParaRPr lang="en-US" altLang="ko-KR" sz="1800" dirty="0">
              <a:latin typeface="+mn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B80A5FB-6422-4F3B-B5CA-E7A3BAD32071}"/>
              </a:ext>
            </a:extLst>
          </p:cNvPr>
          <p:cNvSpPr/>
          <p:nvPr/>
        </p:nvSpPr>
        <p:spPr>
          <a:xfrm>
            <a:off x="416358" y="1097024"/>
            <a:ext cx="3561753" cy="5447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데이터 변경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E9422B0-4E17-4B98-9634-A6097BA0C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2" y="2408753"/>
            <a:ext cx="4800600" cy="184785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BDFA4FC5-74F2-4295-820B-191FFAC72573}"/>
              </a:ext>
            </a:extLst>
          </p:cNvPr>
          <p:cNvSpPr/>
          <p:nvPr/>
        </p:nvSpPr>
        <p:spPr>
          <a:xfrm>
            <a:off x="1078175" y="3537743"/>
            <a:ext cx="4601658" cy="2769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A7DC770-CBA7-4425-B3A0-02796C701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663" y="2408753"/>
            <a:ext cx="4333875" cy="241935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D8FE5004-5C9B-4C08-B043-9196E7328B9D}"/>
              </a:ext>
            </a:extLst>
          </p:cNvPr>
          <p:cNvSpPr/>
          <p:nvPr/>
        </p:nvSpPr>
        <p:spPr>
          <a:xfrm>
            <a:off x="6444413" y="3979666"/>
            <a:ext cx="1670889" cy="8484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314607E1-32BD-4830-985E-0056589CAA71}"/>
              </a:ext>
            </a:extLst>
          </p:cNvPr>
          <p:cNvCxnSpPr/>
          <p:nvPr/>
        </p:nvCxnSpPr>
        <p:spPr>
          <a:xfrm>
            <a:off x="5460025" y="3745523"/>
            <a:ext cx="1046284" cy="369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CAC93C1-2535-4FB0-848B-946F04E1CA69}"/>
              </a:ext>
            </a:extLst>
          </p:cNvPr>
          <p:cNvCxnSpPr/>
          <p:nvPr/>
        </p:nvCxnSpPr>
        <p:spPr>
          <a:xfrm>
            <a:off x="3974125" y="3780102"/>
            <a:ext cx="2532184" cy="476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04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기본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sql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문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BB74D69-E89D-4E57-AC55-23F83117091A}"/>
              </a:ext>
            </a:extLst>
          </p:cNvPr>
          <p:cNvSpPr txBox="1"/>
          <p:nvPr/>
        </p:nvSpPr>
        <p:spPr>
          <a:xfrm>
            <a:off x="639469" y="1742874"/>
            <a:ext cx="9209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 </a:t>
            </a:r>
            <a:r>
              <a:rPr lang="en-US" altLang="ko-KR" sz="1800" dirty="0">
                <a:latin typeface="+mn-ea"/>
              </a:rPr>
              <a:t>drop table </a:t>
            </a:r>
            <a:r>
              <a:rPr lang="ko-KR" altLang="en-US" sz="1800" dirty="0">
                <a:latin typeface="+mn-ea"/>
              </a:rPr>
              <a:t>테이블이름</a:t>
            </a:r>
            <a:endParaRPr lang="en-US" altLang="ko-KR" sz="1800" dirty="0">
              <a:latin typeface="+mn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B80A5FB-6422-4F3B-B5CA-E7A3BAD32071}"/>
              </a:ext>
            </a:extLst>
          </p:cNvPr>
          <p:cNvSpPr/>
          <p:nvPr/>
        </p:nvSpPr>
        <p:spPr>
          <a:xfrm>
            <a:off x="416358" y="1097024"/>
            <a:ext cx="3561753" cy="5447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테이블 삭제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7189D6E-F8DF-4649-99B6-CF6DF7E06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297" y="2208174"/>
            <a:ext cx="6384112" cy="308578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6421D992-B0C3-4D96-B0BD-D423F0F06F39}"/>
              </a:ext>
            </a:extLst>
          </p:cNvPr>
          <p:cNvSpPr/>
          <p:nvPr/>
        </p:nvSpPr>
        <p:spPr>
          <a:xfrm>
            <a:off x="958746" y="3759103"/>
            <a:ext cx="2300829" cy="2769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63FE68-A722-404B-7BF7-47BB8A12D70C}"/>
              </a:ext>
            </a:extLst>
          </p:cNvPr>
          <p:cNvSpPr txBox="1"/>
          <p:nvPr/>
        </p:nvSpPr>
        <p:spPr>
          <a:xfrm>
            <a:off x="2197234" y="5880854"/>
            <a:ext cx="618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https://hd301.tistory.com/entry/20</a:t>
            </a:r>
          </a:p>
        </p:txBody>
      </p:sp>
    </p:spTree>
    <p:extLst>
      <p:ext uri="{BB962C8B-B14F-4D97-AF65-F5344CB8AC3E}">
        <p14:creationId xmlns:p14="http://schemas.microsoft.com/office/powerpoint/2010/main" val="1065039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CB803-D705-B174-A99E-494C24C69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D0BEF825-DC97-CB5D-5CC9-97DDE5DFF63B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05AC772C-ED27-B7B8-7A93-C9884C9FCA0C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516B9C3-56A8-C7C7-34B9-A377A972BB52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오라클 설치오류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D49BF16-CAEA-6C6B-C3D3-E29BD5035B5E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41505E7A-26B9-3CA7-F156-E010DFB5FA77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06DB485-39C0-6E39-8FFC-4672145B5422}"/>
              </a:ext>
            </a:extLst>
          </p:cNvPr>
          <p:cNvSpPr txBox="1"/>
          <p:nvPr/>
        </p:nvSpPr>
        <p:spPr>
          <a:xfrm>
            <a:off x="416358" y="2118808"/>
            <a:ext cx="3338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반드시 관리자 권한으로 실행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차단해제 </a:t>
            </a:r>
            <a:endParaRPr lang="en-US" altLang="ko-KR" sz="18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2C9FA5-100A-2F45-539C-80CBB0ED610B}"/>
              </a:ext>
            </a:extLst>
          </p:cNvPr>
          <p:cNvSpPr txBox="1"/>
          <p:nvPr/>
        </p:nvSpPr>
        <p:spPr>
          <a:xfrm>
            <a:off x="9509760" y="6396335"/>
            <a:ext cx="2682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hlinkClick r:id="rId2"/>
              </a:rPr>
              <a:t>https://hd301.tistory.com/entry/20</a:t>
            </a:r>
            <a:endParaRPr lang="en-US" altLang="ko-KR" sz="1200" dirty="0"/>
          </a:p>
          <a:p>
            <a:r>
              <a:rPr lang="en-US" altLang="ko-KR" sz="1200" dirty="0"/>
              <a:t>https://qa2023.tistory.com/15</a:t>
            </a:r>
            <a:endParaRPr lang="ko-KR" altLang="en-US" sz="1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0A33F6A-BC25-47E7-BF2E-5208CBC62144}"/>
              </a:ext>
            </a:extLst>
          </p:cNvPr>
          <p:cNvSpPr/>
          <p:nvPr/>
        </p:nvSpPr>
        <p:spPr>
          <a:xfrm>
            <a:off x="416358" y="994231"/>
            <a:ext cx="10937442" cy="820579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0" i="0" dirty="0">
                <a:solidFill>
                  <a:srgbClr val="000000"/>
                </a:solidFill>
                <a:effectLst/>
                <a:latin typeface="Nanum Gothic"/>
              </a:rPr>
              <a:t> </a:t>
            </a:r>
            <a:r>
              <a:rPr lang="en-US" altLang="ko-KR" sz="2000" b="0" i="0" dirty="0">
                <a:solidFill>
                  <a:schemeClr val="tx1"/>
                </a:solidFill>
                <a:effectLst/>
                <a:latin typeface="Nanum Gothic"/>
              </a:rPr>
              <a:t>1) </a:t>
            </a:r>
            <a:r>
              <a:rPr lang="ko-KR" altLang="en-US" sz="2000" b="0" i="0" dirty="0">
                <a:solidFill>
                  <a:schemeClr val="tx1"/>
                </a:solidFill>
                <a:effectLst/>
                <a:latin typeface="Nanum Gothic"/>
              </a:rPr>
              <a:t>사용자 이름이 한글인 경우</a:t>
            </a:r>
          </a:p>
          <a:p>
            <a:pPr algn="ctr"/>
            <a:r>
              <a:rPr lang="en-US" altLang="ko-KR" sz="2000" b="0" i="0" dirty="0">
                <a:solidFill>
                  <a:schemeClr val="tx1"/>
                </a:solidFill>
                <a:effectLst/>
                <a:latin typeface="Nanum Gothic"/>
              </a:rPr>
              <a:t>2) install </a:t>
            </a:r>
            <a:r>
              <a:rPr lang="ko-KR" altLang="en-US" sz="2000" b="0" i="0" dirty="0">
                <a:solidFill>
                  <a:schemeClr val="tx1"/>
                </a:solidFill>
                <a:effectLst/>
                <a:latin typeface="Nanum Gothic"/>
              </a:rPr>
              <a:t>경로에 한글이 포함된 경우</a:t>
            </a:r>
            <a:endParaRPr lang="ko-KR" altLang="en-US" sz="2000" spc="-150" dirty="0">
              <a:solidFill>
                <a:schemeClr val="tx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CBBF090-B048-6D22-FA0B-AFA1844A9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417" y="2832501"/>
            <a:ext cx="4477328" cy="3154817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A2569AB-210F-78DC-7E1B-CD7E1F2F5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80" y="2838801"/>
            <a:ext cx="4422782" cy="3937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E98D11-A562-A439-EC3B-C8B728EB83E6}"/>
              </a:ext>
            </a:extLst>
          </p:cNvPr>
          <p:cNvSpPr txBox="1"/>
          <p:nvPr/>
        </p:nvSpPr>
        <p:spPr>
          <a:xfrm>
            <a:off x="5224416" y="2118808"/>
            <a:ext cx="4015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사용자계정 이름 변경 </a:t>
            </a:r>
            <a:r>
              <a:rPr lang="en-US" altLang="ko-KR" dirty="0"/>
              <a:t>– </a:t>
            </a:r>
            <a:r>
              <a:rPr lang="ko-KR" altLang="en-US" dirty="0"/>
              <a:t>영문으로 변경</a:t>
            </a:r>
            <a:endParaRPr lang="en-US" altLang="ko-KR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7354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D635ED1-ED7F-42FF-BBC4-E015AAC1D1A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" y="0"/>
            <a:ext cx="12190326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E00438A-FA4D-4AC6-AD9E-C18057FDD8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A48078-82E0-46B0-BFB6-AC766ABB0F40}"/>
              </a:ext>
            </a:extLst>
          </p:cNvPr>
          <p:cNvSpPr txBox="1"/>
          <p:nvPr/>
        </p:nvSpPr>
        <p:spPr>
          <a:xfrm>
            <a:off x="4362480" y="3034175"/>
            <a:ext cx="34670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</a:rPr>
              <a:t>THANK</a:t>
            </a:r>
            <a:r>
              <a:rPr lang="ko-KR" altLang="en-US" sz="4400" dirty="0">
                <a:solidFill>
                  <a:schemeClr val="bg1"/>
                </a:solidFill>
              </a:rPr>
              <a:t> </a:t>
            </a:r>
            <a:r>
              <a:rPr lang="en-US" altLang="ko-KR" sz="4400" dirty="0">
                <a:solidFill>
                  <a:schemeClr val="bg1"/>
                </a:solidFill>
              </a:rPr>
              <a:t>YOU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498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"/>
</p:tagLst>
</file>

<file path=ppt/theme/theme1.xml><?xml version="1.0" encoding="utf-8"?>
<a:theme xmlns:a="http://schemas.openxmlformats.org/drawingml/2006/main" name="Office 테마">
  <a:themeElements>
    <a:clrScheme name="블루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F518E"/>
      </a:accent1>
      <a:accent2>
        <a:srgbClr val="00608A"/>
      </a:accent2>
      <a:accent3>
        <a:srgbClr val="0286AD"/>
      </a:accent3>
      <a:accent4>
        <a:srgbClr val="01B1D0"/>
      </a:accent4>
      <a:accent5>
        <a:srgbClr val="90CBDD"/>
      </a:accent5>
      <a:accent6>
        <a:srgbClr val="F2EAE3"/>
      </a:accent6>
      <a:hlink>
        <a:srgbClr val="262626"/>
      </a:hlink>
      <a:folHlink>
        <a:srgbClr val="262626"/>
      </a:folHlink>
    </a:clrScheme>
    <a:fontScheme name="Arial나눔">
      <a:majorFont>
        <a:latin typeface="Arial"/>
        <a:ea typeface="나눔스퀘어 ExtraBold"/>
        <a:cs typeface=""/>
      </a:majorFont>
      <a:minorFont>
        <a:latin typeface="Arial"/>
        <a:ea typeface="나눔스퀘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5470</TotalTime>
  <Words>400</Words>
  <Application>Microsoft Office PowerPoint</Application>
  <PresentationFormat>와이드스크린</PresentationFormat>
  <Paragraphs>78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Nanum Gothic</vt:lpstr>
      <vt:lpstr>Noto Sans KR</vt:lpstr>
      <vt:lpstr>나눔스퀘어</vt:lpstr>
      <vt:lpstr>맑은 고딕</vt:lpstr>
      <vt:lpstr>Arial</vt:lpstr>
      <vt:lpstr>Ubuntu Condensed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kosmo</cp:lastModifiedBy>
  <cp:revision>356</cp:revision>
  <dcterms:created xsi:type="dcterms:W3CDTF">2021-02-14T00:18:03Z</dcterms:created>
  <dcterms:modified xsi:type="dcterms:W3CDTF">2025-04-10T06:21:45Z</dcterms:modified>
</cp:coreProperties>
</file>